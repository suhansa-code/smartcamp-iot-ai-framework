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hansa-code/SmartCamp-IoT-AI-Framework/commit/e4cd5d29" TargetMode="External"/><Relationship Id="rId3" Type="http://schemas.openxmlformats.org/officeDocument/2006/relationships/hyperlink" Target="https://www.dmc.gov.lk/index.php?option=com_dmcreports&amp;view=reports&amp;Itemid=277&amp;report_type_id=6&amp;lang=en" TargetMode="External"/><Relationship Id="rId4" Type="http://schemas.openxmlformats.org/officeDocument/2006/relationships/hyperlink" Target="https://github.com/Suhansa-code/SmartCamp-IoT-AI-Framework/blob/backend-dev/edge-gateway/resources/sri_lanka_flood_real_dataset.csv" TargetMode="External"/><Relationship Id="rId5" Type="http://schemas.openxmlformats.org/officeDocument/2006/relationships/hyperlink" Target="https://github.com/Suhansa-code/SmartCamp-IoT-AI-Framework/blob/backend-dev/edge-gateway/prediction-models/real_validation_results/VALIDATION_REPORT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hansa-code/SmartCamp-IoT-AI-Framework/blob/backend-dev/edge-gateway/prediction-models/real_validation_results/VALIDATION_REPORT.md" TargetMode="External"/><Relationship Id="rId3" Type="http://schemas.openxmlformats.org/officeDocument/2006/relationships/hyperlink" Target="https://data.internal-displacement.org/" TargetMode="External"/><Relationship Id="rId4" Type="http://schemas.openxmlformats.org/officeDocument/2006/relationships/hyperlink" Target="https://www.dmc.gov.lk/index.php?option=com_dmcreports&amp;view=reports&amp;Itemid=277&amp;report_type_id=6&amp;lang=en" TargetMode="External"/><Relationship Id="rId5" Type="http://schemas.openxmlformats.org/officeDocument/2006/relationships/hyperlink" Target="https://github.com/Suhansa-code/SmartCamp-IoT-AI-Framework/commit/e4cd5d29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01168"/>
            <a:ext cx="11365992" cy="841248"/>
          </a:xfrm>
          <a:prstGeom prst="roundRect">
            <a:avLst>
              <a:gd name="adj" fmla="val 55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071E3"/>
                </a:solidFill>
                <a:latin typeface="Segoe UI"/>
              </a:rPr>
              <a:t>PANEL COMMENT</a:t>
            </a:r>
          </a:p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1D1D1F"/>
                </a:solidFill>
                <a:latin typeface="Segoe UI"/>
              </a:rPr>
              <a:t>"The system output should be better validated using data from historical disaster situations and, where appropriate, current disaster events — to assess accuracy, reliability &amp; practical applicability under real-world disaster conditions."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  <a:latin typeface="Segoe UI"/>
              </a:rPr>
              <a:t>Real Disaster Data, Not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</a:rPr>
              <a:t>Response to the panel’s validation concern — all numbers re-verified 19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365760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3B30"/>
                </a:solidFill>
                <a:latin typeface="Segoe UI"/>
              </a:rPr>
              <a:t>PREVIOUS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D1D1F"/>
                </a:solidFill>
                <a:latin typeface="Segoe UI"/>
              </a:rPr>
              <a:t>Model trained on 100% synthetic data (25,000 rows).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</a:rPr>
              <a:t>Real-event test (30 IDMC floods):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FF3B30"/>
                </a:solidFill>
                <a:latin typeface="Segoe UI"/>
              </a:rPr>
              <a:t>AUC 0.50 (chance) · 0/30 events · Ditwah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u="sng">
                <a:solidFill>
                  <a:srgbClr val="0071E3"/>
                </a:solidFill>
                <a:latin typeface="Segoe UI"/>
                <a:hlinkClick r:id="rId2"/>
              </a:rPr>
              <a:t>Evidence: commit e4cd5d29 (repo)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920240"/>
            <a:ext cx="365760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0299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71E3"/>
                </a:solidFill>
                <a:latin typeface="Segoe UI"/>
              </a:rPr>
              <a:t>ACTION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267712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D1D1F"/>
                </a:solidFill>
                <a:latin typeface="Segoe UI"/>
              </a:rPr>
              <a:t>Built a Sri Lanka real dataset + retrained XGBoost.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• Scraped DMC daily river water-level PDF reports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• Merged ERA5 rainfall · SRTM elevation · IDMC events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• Labels = DMC’s own flood status (Minor/Major)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1920240"/>
            <a:ext cx="3666744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0299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71E3"/>
                </a:solidFill>
                <a:latin typeface="Segoe UI"/>
              </a:rPr>
              <a:t>CHANGES 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267712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D1D1F"/>
                </a:solidFill>
                <a:latin typeface="Segoe UI"/>
              </a:rPr>
              <a:t>Retrained on real data; same production features.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• Gauge water level is key feature (importance 0.63)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• Threshold 0.570 chosen on validation split only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• Test split evaluated once at frozen threshold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22191"/>
            <a:ext cx="7507224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19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Segoe UI"/>
              </a:rPr>
              <a:t>NEW DATASET — REAL DMC GAUGE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9663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1D1F"/>
                </a:solidFill>
                <a:latin typeface="Segoe UI"/>
              </a:rPr>
              <a:t>sri_lanka_flood_real_dataset.csv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35423"/>
            <a:ext cx="1417320" cy="658368"/>
          </a:xfrm>
          <a:prstGeom prst="roundRect">
            <a:avLst>
              <a:gd name="adj" fmla="val 5500"/>
            </a:avLst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81143"/>
            <a:ext cx="12710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D1D1F"/>
                </a:solidFill>
                <a:latin typeface="Segoe UI"/>
              </a:rPr>
              <a:t>3,335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E6E73"/>
                </a:solidFill>
                <a:latin typeface="Segoe UI"/>
              </a:rPr>
              <a:t>station-days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7128" y="4535423"/>
            <a:ext cx="1417320" cy="658368"/>
          </a:xfrm>
          <a:prstGeom prst="roundRect">
            <a:avLst>
              <a:gd name="adj" fmla="val 5500"/>
            </a:avLst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581143"/>
            <a:ext cx="12710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D1D1F"/>
                </a:solidFill>
                <a:latin typeface="Segoe UI"/>
              </a:rPr>
              <a:t>39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E6E73"/>
                </a:solidFill>
                <a:latin typeface="Segoe UI"/>
              </a:rPr>
              <a:t>gauge stations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94176" y="4535423"/>
            <a:ext cx="1417320" cy="658368"/>
          </a:xfrm>
          <a:prstGeom prst="roundRect">
            <a:avLst>
              <a:gd name="adj" fmla="val 5500"/>
            </a:avLst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4581143"/>
            <a:ext cx="12710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D1D1F"/>
                </a:solidFill>
                <a:latin typeface="Segoe UI"/>
              </a:rPr>
              <a:t>125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E6E73"/>
                </a:solidFill>
                <a:latin typeface="Segoe UI"/>
              </a:rPr>
              <a:t>flood days (3.7%)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21224" y="4535423"/>
            <a:ext cx="1965960" cy="658368"/>
          </a:xfrm>
          <a:prstGeom prst="roundRect">
            <a:avLst>
              <a:gd name="adj" fmla="val 5500"/>
            </a:avLst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4376" y="4581143"/>
            <a:ext cx="18196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D1D1F"/>
                </a:solidFill>
                <a:latin typeface="Segoe UI"/>
              </a:rPr>
              <a:t>Jun ’25–Oct ’26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E6E73"/>
                </a:solidFill>
                <a:latin typeface="Segoe UI"/>
              </a:rPr>
              <a:t>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85231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E6E73"/>
                </a:solidFill>
                <a:latin typeface="Segoe UI"/>
              </a:rPr>
              <a:t>Built by build_real_flood_dataset.py: scrape DMC water-level PDFs → merge ERA5 + SRTM → label = DMC flood status.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05271"/>
            <a:ext cx="7040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u="sng">
                <a:solidFill>
                  <a:srgbClr val="0071E3"/>
                </a:solidFill>
                <a:latin typeface="Segoe UI"/>
                <a:hlinkClick r:id="rId3"/>
              </a:rPr>
              <a:t>↓  Download DMC daily water-level PDF reports (source of labels)</a:t>
            </a:r>
          </a:p>
          <a:p>
            <a:pPr>
              <a:spcBef>
                <a:spcPts val="300"/>
              </a:spcBef>
            </a:pPr>
            <a:r>
              <a:rPr sz="950" u="sng">
                <a:solidFill>
                  <a:srgbClr val="0071E3"/>
                </a:solidFill>
                <a:latin typeface="Segoe UI"/>
                <a:hlinkClick r:id="rId4"/>
              </a:rPr>
              <a:t>Dataset CSV in repo</a:t>
            </a:r>
            <a:r>
              <a:rPr sz="950">
                <a:solidFill>
                  <a:srgbClr val="6E6E73"/>
                </a:solidFill>
                <a:latin typeface="Segoe UI"/>
              </a:rPr>
              <a:t>  ·  Full validation report: </a:t>
            </a:r>
            <a:r>
              <a:rPr sz="950" u="sng">
                <a:solidFill>
                  <a:srgbClr val="0071E3"/>
                </a:solidFill>
                <a:latin typeface="Segoe UI"/>
                <a:hlinkClick r:id="rId5"/>
              </a:rPr>
              <a:t>VALIDATION_REPORT.md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0727" y="3822191"/>
            <a:ext cx="3666744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931919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9F0A"/>
                </a:solidFill>
                <a:latin typeface="Segoe UI"/>
              </a:rPr>
              <a:t>THRESHOLD SELECTION (EVIDENCE)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87951"/>
            <a:ext cx="32918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1D1F"/>
                </a:solidFill>
                <a:latin typeface="Segoe UI"/>
              </a:rPr>
              <a:t>Temporal split by date: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D1D1F"/>
                </a:solidFill>
                <a:latin typeface="Segoe UI"/>
              </a:rPr>
              <a:t>Train &lt; Feb’26 (2,483) · Val Feb–Jun’26 (428) · Test ≥ Jul’26 (424, untouched)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1D1F"/>
                </a:solidFill>
                <a:latin typeface="Segoe UI"/>
              </a:rPr>
              <a:t>F2-optimal threshold on VALIDATION only: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D1D1F"/>
                </a:solidFill>
                <a:latin typeface="Segoe UI"/>
              </a:rPr>
              <a:t>→ 0.570 (F1-optimal also 0.570 — both agree)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6E6E73"/>
                </a:solidFill>
                <a:latin typeface="Segoe UI"/>
              </a:rPr>
              <a:t>Why F2: in disaster warning, a missed flood costs more than a false alarm (recall weighted 4× precision).</a:t>
            </a:r>
          </a:p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D1D1F"/>
                </a:solidFill>
                <a:latin typeface="Segoe UI"/>
              </a:rPr>
              <a:t>Test evaluated once at frozen 0.570: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D1D1F"/>
                </a:solidFill>
                <a:latin typeface="Segoe UI"/>
              </a:rPr>
              <a:t>AUC 1.000 · P 1.000 · R 0.800 · F1 0.889 (only 5 test flood-days — weak alone; external test is main evidence)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  <a:latin typeface="Segoe UI"/>
              </a:rPr>
              <a:t>Proof on Real Disaster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</a:rPr>
              <a:t>Validated on Cyclone Ditwah (case study) + 30 documented IDMC flood events vs 500 control locations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7507224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71E3"/>
                </a:solidFill>
                <a:latin typeface="Segoe UI"/>
              </a:rPr>
              <a:t>CASE STUDY — CYCLONE DITWAH, POLONNARUWA (27 NOV – 3 DEC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7040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Segoe UI"/>
              </a:rPr>
              <a:t>Real inputs: rain 255.8 mm/7d (ERA5) · elev. 39 m (SRTM) · Manampitiya gauge, Mahaweli Ganga — level 4.3 m = minor-flood stage · 13,365 displaced (IDMC/DMC).</a:t>
            </a:r>
          </a:p>
          <a:p>
            <a:r>
              <a:rPr sz="1050" b="1">
                <a:solidFill>
                  <a:srgbClr val="FF3B30"/>
                </a:solidFill>
                <a:latin typeface="Segoe UI"/>
              </a:rPr>
              <a:t>Old synthetic model: 0.000 → “No flood” ✗ missed   </a:t>
            </a:r>
            <a:r>
              <a:rPr sz="1050" b="1">
                <a:solidFill>
                  <a:srgbClr val="30D158"/>
                </a:solidFill>
                <a:latin typeface="Segoe UI"/>
              </a:rPr>
              <a:t>→   New real-data model: 0.853 → “Flood” ✓ 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7" y="1078992"/>
            <a:ext cx="3666744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7" y="117043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71E3"/>
                </a:solidFill>
                <a:latin typeface="Segoe UI"/>
              </a:rPr>
              <a:t>PROOF (VERIFIABLE)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1408176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u="sng">
                <a:solidFill>
                  <a:srgbClr val="0071E3"/>
                </a:solidFill>
                <a:latin typeface="Segoe UI"/>
                <a:hlinkClick r:id="rId2"/>
              </a:rPr>
              <a:t>↗  VALIDATION_REPORT.md (repo)</a:t>
            </a:r>
          </a:p>
          <a:p>
            <a:pPr>
              <a:spcAft>
                <a:spcPts val="300"/>
              </a:spcAft>
            </a:pPr>
            <a:r>
              <a:rPr sz="950" u="sng">
                <a:solidFill>
                  <a:srgbClr val="0071E3"/>
                </a:solidFill>
                <a:latin typeface="Segoe UI"/>
                <a:hlinkClick r:id="rId3"/>
              </a:rPr>
              <a:t>↗  IDMC disaster data — Sri Lanka</a:t>
            </a:r>
          </a:p>
          <a:p>
            <a:pPr>
              <a:spcAft>
                <a:spcPts val="300"/>
              </a:spcAft>
            </a:pPr>
            <a:r>
              <a:rPr sz="950" u="sng">
                <a:solidFill>
                  <a:srgbClr val="0071E3"/>
                </a:solidFill>
                <a:latin typeface="Segoe UI"/>
                <a:hlinkClick r:id="rId4"/>
              </a:rPr>
              <a:t>↗  ↓ DMC water-level PDF reports</a:t>
            </a:r>
          </a:p>
          <a:p>
            <a:pPr>
              <a:spcAft>
                <a:spcPts val="300"/>
              </a:spcAft>
            </a:pPr>
            <a:r>
              <a:rPr sz="950" u="sng">
                <a:solidFill>
                  <a:srgbClr val="0071E3"/>
                </a:solidFill>
                <a:latin typeface="Segoe UI"/>
                <a:hlinkClick r:id="rId5"/>
              </a:rPr>
              <a:t>↗  Validation commit e4cd5d29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779776"/>
            <a:ext cx="3657600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7121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3B30"/>
                </a:solidFill>
                <a:latin typeface="Segoe UI"/>
              </a:rPr>
              <a:t>FLOOD SCENARIOS — REAL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0D158"/>
                </a:solidFill>
                <a:latin typeface="Segoe UI"/>
              </a:rPr>
              <a:t>26 / 30 real flood events detected (87%)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D1D1F"/>
                </a:solidFill>
                <a:latin typeface="Segoe UI"/>
              </a:rPr>
              <a:t>ROC-AUC 0.930 with real gauge stage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Eravur Pattu (803 displaced): 0.058 → 0.679 ✓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</a:rPr>
              <a:t>Mean prob: 0.74 events vs 0.22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2779776"/>
            <a:ext cx="3657600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87121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Segoe UI"/>
              </a:rPr>
              <a:t>NON-FLOOD SCENARIOS —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127248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0D158"/>
                </a:solidFill>
                <a:latin typeface="Segoe UI"/>
              </a:rPr>
              <a:t>500 control locations kept mostly low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E6E73"/>
                </a:solidFill>
                <a:latin typeface="Segoe UI"/>
              </a:rPr>
              <a:t>Controls = places with no documented flood within 10 km (assumed no-flood days)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1D1F"/>
                </a:solidFill>
                <a:latin typeface="Segoe UI"/>
              </a:rPr>
              <a:t>89% (444/500) correctly below threshold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9F0A"/>
                </a:solidFill>
                <a:latin typeface="Segoe UI"/>
              </a:rPr>
              <a:t>11% (56/500) false alarms — stated honestly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2779776"/>
            <a:ext cx="3666744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87121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9F0A"/>
                </a:solidFill>
                <a:latin typeface="Segoe UI"/>
              </a:rPr>
              <a:t>BEFORE vs 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145536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E6E73"/>
                </a:solidFill>
                <a:latin typeface="Segoe UI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3145536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E6E73"/>
                </a:solidFill>
                <a:latin typeface="Segoe UI"/>
              </a:rPr>
              <a:t>Old (synthetic)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8208" y="314553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E6E73"/>
                </a:solidFill>
                <a:latin typeface="Segoe UI"/>
              </a:rPr>
              <a:t>New (real)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346704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1D1F"/>
                </a:solidFill>
                <a:latin typeface="Segoe UI"/>
              </a:rPr>
              <a:t>Ditwah flood?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334670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3B30"/>
                </a:solidFill>
                <a:latin typeface="Segoe UI"/>
              </a:rPr>
              <a:t>0.000 → No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8208" y="3346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Segoe UI"/>
              </a:rPr>
              <a:t>0.853 → Yes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621024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1D1F"/>
                </a:solidFill>
                <a:latin typeface="Segoe UI"/>
              </a:rPr>
              <a:t>30-event 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362102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3B30"/>
                </a:solidFill>
                <a:latin typeface="Segoe UI"/>
              </a:rPr>
              <a:t>0.50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8208" y="36210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Segoe UI"/>
              </a:rPr>
              <a:t>0.930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895344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D1D1F"/>
                </a:solidFill>
                <a:latin typeface="Segoe UI"/>
              </a:rPr>
              <a:t>Events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89534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3B30"/>
                </a:solidFill>
                <a:latin typeface="Segoe UI"/>
              </a:rPr>
              <a:t>0 / 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8208" y="38953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Segoe UI"/>
              </a:rPr>
              <a:t>26 / 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736592"/>
            <a:ext cx="11365992" cy="1051560"/>
          </a:xfrm>
          <a:prstGeom prst="roundRect">
            <a:avLst>
              <a:gd name="adj" fmla="val 55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280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71E3"/>
                </a:solidFill>
                <a:latin typeface="Segoe UI"/>
              </a:rPr>
              <a:t>JUSTIFICATION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</a:rPr>
              <a:t>Validated on real historical and current disaster events, the retrained model now detects 87% of actual Sri Lankan flood events (AUC 0.930) while keeping 89% of non-flood control locations below threshold — demonstrating accuracy, reliability and practical applicability as disaster decision support.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253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E6E73"/>
                </a:solidFill>
                <a:latin typeface="Segoe UI"/>
              </a:rPr>
              <a:t>Limitations (stated honestly): without a live gauge reading, pure forecast skill remains weak (AUC ≈ 0.33) — the model is decision support on top of live/entered DMC gauge readings. Controls are assumed non-flood (not verified); internal test has only 5 flood-days.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E6E73"/>
                </a:solidFill>
                <a:latin typeface="Segoe UI"/>
              </a:rPr>
              <a:t>Reproduce: build_real_flood_dataset.py → train_real_flood.py → validate_ditwah_case.py / validate_real_events.py  ·  github.com/Suhansa-code/SmartCamp-IoT-AI-Framework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