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hansa-code/SmartCamp-IoT-AI-Framework/commit/e4cd5d29" TargetMode="External"/><Relationship Id="rId3" Type="http://schemas.openxmlformats.org/officeDocument/2006/relationships/hyperlink" Target="https://github.com/Suhansa-code/SmartCamp-IoT-AI-Framework/blob/backend-dev/edge-gateway/resources/sri_lanka_flood_real_dataset.csv" TargetMode="External"/><Relationship Id="rId4" Type="http://schemas.openxmlformats.org/officeDocument/2006/relationships/hyperlink" Target="https://github.com/Suhansa-code/SmartCamp-IoT-AI-Framework/blob/backend-dev/edge-gateway/prediction-models/real_validation_results/VALIDATION_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hansa-code/SmartCamp-IoT-AI-Framework/blob/backend-dev/edge-gateway/prediction-models/real_validation_results/VALIDATION_REPORT.md" TargetMode="External"/><Relationship Id="rId3" Type="http://schemas.openxmlformats.org/officeDocument/2006/relationships/hyperlink" Target="https://data.internal-displacement.org/" TargetMode="External"/><Relationship Id="rId4" Type="http://schemas.openxmlformats.org/officeDocument/2006/relationships/hyperlink" Target="https://www.dmc.gov.lk" TargetMode="External"/><Relationship Id="rId5" Type="http://schemas.openxmlformats.org/officeDocument/2006/relationships/hyperlink" Target="https://github.com/Suhansa-code/SmartCamp-IoT-AI-Framework/commit/e4cd5d29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01168"/>
            <a:ext cx="11365992" cy="841248"/>
          </a:xfrm>
          <a:prstGeom prst="roundRect">
            <a:avLst>
              <a:gd name="adj" fmla="val 55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0071E3"/>
                </a:solidFill>
                <a:latin typeface="Segoe UI"/>
              </a:rPr>
              <a:t>PANEL COMMENT</a:t>
            </a:r>
          </a:p>
          <a:p>
            <a:r>
              <a:rPr sz="1050" i="1">
                <a:solidFill>
                  <a:srgbClr val="1D1D1F"/>
                </a:solidFill>
                <a:latin typeface="Segoe UI"/>
              </a:rPr>
              <a:t>"The system output should be better validated using data from historical disaster situations and, where appropriate, current disaster events — to assess accuracy, reliability &amp; practical applicability under real-world disaster conditions."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D1D1F"/>
                </a:solidFill>
                <a:latin typeface="Segoe UI"/>
              </a:rPr>
              <a:t>Real Disaster Data, Not Synthetic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6E6E73"/>
                </a:solidFill>
                <a:latin typeface="Segoe UI"/>
              </a:rPr>
              <a:t>Action taken to address the panel’s validation concern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920240"/>
            <a:ext cx="365760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48256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F3B30"/>
                </a:solidFill>
                <a:latin typeface="Segoe UI"/>
              </a:rPr>
              <a:t>PREVIOUS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246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1D1D1F"/>
                </a:solidFill>
                <a:latin typeface="Segoe UI"/>
              </a:rPr>
              <a:t>Model trained on 100% synthetic data (25,000 rows) — no real-disaster validation.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6E6E73"/>
                </a:solidFill>
                <a:latin typeface="Segoe UI"/>
              </a:rPr>
              <a:t>External check vs 30 real IDMC flood events: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FF3B30"/>
                </a:solidFill>
                <a:latin typeface="Segoe UI"/>
              </a:rPr>
              <a:t>AUC 0.50 (chance) · 0/30 events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643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u="sng">
                <a:solidFill>
                  <a:srgbClr val="0071E3"/>
                </a:solidFill>
                <a:latin typeface="Segoe UI"/>
                <a:hlinkClick r:id="rId2"/>
              </a:rPr>
              <a:t>Evidence: commit e4cd5d29 (repo)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920240"/>
            <a:ext cx="365760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4" y="2048256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71E3"/>
                </a:solidFill>
                <a:latin typeface="Segoe UI"/>
              </a:rPr>
              <a:t>ACTION TAKEN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304288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1D1D1F"/>
                </a:solidFill>
                <a:latin typeface="Segoe UI"/>
              </a:rPr>
              <a:t>Built a Sri Lanka real dataset + retrained XGBoost.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• Scraped DMC daily river water-level reports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• ERA5 rainfall · SRTM elevation · IDMC events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• Labels = DMC’s own flood status (Minor/Major)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0727" y="1920240"/>
            <a:ext cx="3666744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048256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71E3"/>
                </a:solidFill>
                <a:latin typeface="Segoe UI"/>
              </a:rPr>
              <a:t>CHANGES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304288"/>
            <a:ext cx="3246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i="0">
                <a:solidFill>
                  <a:srgbClr val="1D1D1F"/>
                </a:solidFill>
                <a:latin typeface="Segoe UI"/>
              </a:rPr>
              <a:t>Retrained on real data (temporal split, threshold 0.58).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• Gauge water level becomes key feature (importance 0.63)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• Same production feature vector — drop-in replacement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• Synthetic model kept as backup for comparison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50208"/>
            <a:ext cx="7507224" cy="25420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78224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Segoe UI"/>
              </a:rPr>
              <a:t>NEW DATASET — REAL DMC GAUGE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34256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D1D1F"/>
                </a:solidFill>
                <a:latin typeface="Segoe UI"/>
              </a:rPr>
              <a:t>sri_lanka_flood_real_dataset.csv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54880"/>
            <a:ext cx="1417320" cy="713232"/>
          </a:xfrm>
          <a:prstGeom prst="roundRect">
            <a:avLst>
              <a:gd name="adj" fmla="val 5500"/>
            </a:avLst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809744"/>
            <a:ext cx="12710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D1D1F"/>
                </a:solidFill>
                <a:latin typeface="Segoe UI"/>
              </a:rPr>
              <a:t>3,335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E6E73"/>
                </a:solidFill>
                <a:latin typeface="Segoe UI"/>
              </a:rPr>
              <a:t>station-days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67128" y="4754880"/>
            <a:ext cx="1417320" cy="713232"/>
          </a:xfrm>
          <a:prstGeom prst="roundRect">
            <a:avLst>
              <a:gd name="adj" fmla="val 5500"/>
            </a:avLst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80" y="4809744"/>
            <a:ext cx="12710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D1D1F"/>
                </a:solidFill>
                <a:latin typeface="Segoe UI"/>
              </a:rPr>
              <a:t>39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E6E73"/>
                </a:solidFill>
                <a:latin typeface="Segoe UI"/>
              </a:rPr>
              <a:t>gauge stations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4754880"/>
            <a:ext cx="1417320" cy="713232"/>
          </a:xfrm>
          <a:prstGeom prst="roundRect">
            <a:avLst>
              <a:gd name="adj" fmla="val 5500"/>
            </a:avLst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67328" y="4809744"/>
            <a:ext cx="127101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D1D1F"/>
                </a:solidFill>
                <a:latin typeface="Segoe UI"/>
              </a:rPr>
              <a:t>125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E6E73"/>
                </a:solidFill>
                <a:latin typeface="Segoe UI"/>
              </a:rPr>
              <a:t>flood days (3.7%)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21224" y="4754880"/>
            <a:ext cx="1965960" cy="713232"/>
          </a:xfrm>
          <a:prstGeom prst="roundRect">
            <a:avLst>
              <a:gd name="adj" fmla="val 5500"/>
            </a:avLst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94376" y="4809744"/>
            <a:ext cx="1819656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D1D1F"/>
                </a:solidFill>
                <a:latin typeface="Segoe UI"/>
              </a:rPr>
              <a:t>Jun ’25–Oct ’26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6E6E73"/>
                </a:solidFill>
                <a:latin typeface="Segoe UI"/>
              </a:rPr>
              <a:t>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96128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6E6E73"/>
                </a:solidFill>
                <a:latin typeface="Segoe UI"/>
              </a:rPr>
              <a:t>Sources: DMC water-level PDF reports · ERA5 (Open-Meteo) · SRTM elevation · IDMC flood events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33872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E6E73"/>
                </a:solidFill>
                <a:latin typeface="Segoe UI"/>
              </a:rPr>
              <a:t>Dataset: </a:t>
            </a:r>
            <a:r>
              <a:rPr sz="950" u="sng">
                <a:solidFill>
                  <a:srgbClr val="0071E3"/>
                </a:solidFill>
                <a:latin typeface="Segoe UI"/>
                <a:hlinkClick r:id="rId3"/>
              </a:rPr>
              <a:t>repo/…/sri_lanka_flood_real_dataset.csv</a:t>
            </a:r>
            <a:r>
              <a:rPr sz="950">
                <a:solidFill>
                  <a:srgbClr val="6E6E73"/>
                </a:solidFill>
                <a:latin typeface="Segoe UI"/>
              </a:rPr>
              <a:t>   ·   Sources: dmc.gov.lk · internal-displacement.org · open-meteo.com</a:t>
            </a:r>
          </a:p>
          <a:p>
            <a:r>
              <a:rPr sz="950">
                <a:solidFill>
                  <a:srgbClr val="6E6E73"/>
                </a:solidFill>
                <a:latin typeface="Segoe UI"/>
              </a:rPr>
              <a:t>Full report: </a:t>
            </a:r>
            <a:r>
              <a:rPr sz="950" u="sng">
                <a:solidFill>
                  <a:srgbClr val="0071E3"/>
                </a:solidFill>
                <a:latin typeface="Segoe UI"/>
                <a:hlinkClick r:id="rId4"/>
              </a:rPr>
              <a:t>VALIDATION_REPORT.md (repo)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0727" y="3950208"/>
            <a:ext cx="3666744" cy="25420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7" y="4078224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71E3"/>
                </a:solidFill>
                <a:latin typeface="Segoe UI"/>
              </a:rPr>
              <a:t>HOW THE DATASET WAS CREATED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361688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071E3"/>
                </a:solidFill>
                <a:latin typeface="Segoe UI"/>
              </a:rPr>
              <a:t>1  </a:t>
            </a:r>
            <a:r>
              <a:rPr sz="950">
                <a:solidFill>
                  <a:srgbClr val="1D1D1F"/>
                </a:solidFill>
                <a:latin typeface="Segoe UI"/>
              </a:rPr>
              <a:t>Scrape DMC water-level PDFs (pdfplumber)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71E3"/>
                </a:solidFill>
                <a:latin typeface="Segoe UI"/>
              </a:rPr>
              <a:t>2  </a:t>
            </a:r>
            <a:r>
              <a:rPr sz="950">
                <a:solidFill>
                  <a:srgbClr val="1D1D1F"/>
                </a:solidFill>
                <a:latin typeface="Segoe UI"/>
              </a:rPr>
              <a:t>Target dates of known IDMC flood events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71E3"/>
                </a:solidFill>
                <a:latin typeface="Segoe UI"/>
              </a:rPr>
              <a:t>3  </a:t>
            </a:r>
            <a:r>
              <a:rPr sz="950">
                <a:solidFill>
                  <a:srgbClr val="1D1D1F"/>
                </a:solidFill>
                <a:latin typeface="Segoe UI"/>
              </a:rPr>
              <a:t>Merge ERA5 rain + SRTM elevation per station-day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71E3"/>
                </a:solidFill>
                <a:latin typeface="Segoe UI"/>
              </a:rPr>
              <a:t>4  </a:t>
            </a:r>
            <a:r>
              <a:rPr sz="950">
                <a:solidFill>
                  <a:srgbClr val="1D1D1F"/>
                </a:solidFill>
                <a:latin typeface="Segoe UI"/>
              </a:rPr>
              <a:t>Label = DMC status: Minor/Major Flood → 1, Normal → 0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71E3"/>
                </a:solidFill>
                <a:latin typeface="Segoe UI"/>
              </a:rPr>
              <a:t>5  </a:t>
            </a:r>
            <a:r>
              <a:rPr sz="950">
                <a:solidFill>
                  <a:srgbClr val="1D1D1F"/>
                </a:solidFill>
                <a:latin typeface="Segoe UI"/>
              </a:rPr>
              <a:t>Automated pipeline: build_real_flood_dataset.py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D1D1F"/>
                </a:solidFill>
                <a:latin typeface="Segoe UI"/>
              </a:rPr>
              <a:t>Proof on Real Disaster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6E6E73"/>
                </a:solidFill>
                <a:latin typeface="Segoe UI"/>
              </a:rPr>
              <a:t>Validated against Cyclone Ditwah &amp; 30 IDMC flood events vs 500 non-flood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78992"/>
            <a:ext cx="7507224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71E3"/>
                </a:solidFill>
                <a:latin typeface="Segoe UI"/>
              </a:rPr>
              <a:t>ACTUAL SCENARIO — CYCLONE DITWAH, POLONNARUWA (27 NOV – 3 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7040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D1D1F"/>
                </a:solidFill>
                <a:latin typeface="Segoe UI"/>
              </a:rPr>
              <a:t>Real inputs: rain 255.8 mm/7d (ERA5) · elev. 39 m (SRTM) · Manampitiya gauge, Mahaweli Ganga — level 4.3 m = minor-flood threshold · 13,365 people displaced (IDMC/DMC).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E6E73"/>
                </a:solidFill>
                <a:latin typeface="Segoe UI"/>
              </a:rPr>
              <a:t>30-event study: IDMC Sri Lanka floods (2025–26) vs 500 non-flood control days.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0727" y="1078992"/>
            <a:ext cx="3666744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39327" y="118872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71E3"/>
                </a:solidFill>
                <a:latin typeface="Segoe UI"/>
              </a:rPr>
              <a:t>PROOF (VERIFIABLE)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1444752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u="sng">
                <a:solidFill>
                  <a:srgbClr val="0071E3"/>
                </a:solidFill>
                <a:latin typeface="Segoe UI"/>
                <a:hlinkClick r:id="rId2"/>
              </a:rPr>
              <a:t>↗  VALIDATION_REPORT.md (repo)</a:t>
            </a:r>
          </a:p>
          <a:p>
            <a:pPr>
              <a:spcAft>
                <a:spcPts val="300"/>
              </a:spcAft>
            </a:pPr>
            <a:r>
              <a:rPr sz="950" u="sng">
                <a:solidFill>
                  <a:srgbClr val="0071E3"/>
                </a:solidFill>
                <a:latin typeface="Segoe UI"/>
                <a:hlinkClick r:id="rId3"/>
              </a:rPr>
              <a:t>↗  IDMC disaster data — Sri Lanka</a:t>
            </a:r>
          </a:p>
          <a:p>
            <a:pPr>
              <a:spcAft>
                <a:spcPts val="300"/>
              </a:spcAft>
            </a:pPr>
            <a:r>
              <a:rPr sz="950" u="sng">
                <a:solidFill>
                  <a:srgbClr val="0071E3"/>
                </a:solidFill>
                <a:latin typeface="Segoe UI"/>
                <a:hlinkClick r:id="rId4"/>
              </a:rPr>
              <a:t>↗  DMC — river water levels</a:t>
            </a:r>
          </a:p>
          <a:p>
            <a:pPr>
              <a:spcAft>
                <a:spcPts val="300"/>
              </a:spcAft>
            </a:pPr>
            <a:r>
              <a:rPr sz="950" u="sng">
                <a:solidFill>
                  <a:srgbClr val="0071E3"/>
                </a:solidFill>
                <a:latin typeface="Segoe UI"/>
                <a:hlinkClick r:id="rId5"/>
              </a:rPr>
              <a:t>↗  Validation commit e4cd5d29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706624"/>
            <a:ext cx="3657600" cy="17556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F3B30"/>
                </a:solidFill>
                <a:latin typeface="Segoe UI"/>
              </a:rPr>
              <a:t>FLOOD SCENARIO — VALIDATION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0D158"/>
                </a:solidFill>
                <a:latin typeface="Segoe UI"/>
              </a:rPr>
              <a:t>27 / 30 real flood events detected (90%)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D1D1F"/>
                </a:solidFill>
                <a:latin typeface="Segoe UI"/>
              </a:rPr>
              <a:t>ROC-AUC 0.948 with live gauge stage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Ditwah Polonnaruwa: 0.763 → FLOOD (correct)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Eravur Pattu: 0.905 → FLOOD (correct)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2706624"/>
            <a:ext cx="3657600" cy="17556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281635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Segoe UI"/>
              </a:rPr>
              <a:t>NON-FLOOD SCENARIO — VALIDATION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3090672"/>
            <a:ext cx="32461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0D158"/>
                </a:solidFill>
                <a:latin typeface="Segoe UI"/>
              </a:rPr>
              <a:t>500 control (non-flood) days correctly low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D1D1F"/>
                </a:solidFill>
                <a:latin typeface="Segoe UI"/>
              </a:rPr>
              <a:t>Mean probability: 0.22 vs 0.81 for events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D1D1F"/>
                </a:solidFill>
                <a:latin typeface="Segoe UI"/>
              </a:rPr>
              <a:t>No false flood flags at normal gauge levels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6E6E73"/>
                </a:solidFill>
                <a:latin typeface="Segoe UI"/>
              </a:rPr>
              <a:t>Precision 0.39 · F1 0.545 (class-imbalanced)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7" y="2706624"/>
            <a:ext cx="3666744" cy="17556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7" y="281635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F9F0A"/>
                </a:solidFill>
                <a:latin typeface="Segoe UI"/>
              </a:rPr>
              <a:t>BEFORE vs AFTER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3090672"/>
            <a:ext cx="1353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E6E73"/>
                </a:solidFill>
                <a:latin typeface="Segoe UI"/>
              </a:rPr>
              <a:t>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3090672"/>
            <a:ext cx="1078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E6E73"/>
                </a:solidFill>
                <a:latin typeface="Segoe UI"/>
              </a:rPr>
              <a:t>Old (synthetic)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8208" y="30906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E6E73"/>
                </a:solidFill>
                <a:latin typeface="Segoe UI"/>
              </a:rPr>
              <a:t>New (real)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310128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D1D1F"/>
                </a:solidFill>
                <a:latin typeface="Segoe UI"/>
              </a:rPr>
              <a:t>Ditwah flood?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331012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3B30"/>
                </a:solidFill>
                <a:latin typeface="Segoe UI"/>
              </a:rPr>
              <a:t>0.000 → No 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8208" y="33101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Segoe UI"/>
              </a:rPr>
              <a:t>0.763 → Yes 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3584448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D1D1F"/>
                </a:solidFill>
                <a:latin typeface="Segoe UI"/>
              </a:rPr>
              <a:t>30-event AUC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358444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3B30"/>
                </a:solidFill>
                <a:latin typeface="Segoe UI"/>
              </a:rPr>
              <a:t>0.50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08208" y="358444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Segoe UI"/>
              </a:rPr>
              <a:t>0.948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858768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D1D1F"/>
                </a:solidFill>
                <a:latin typeface="Segoe UI"/>
              </a:rPr>
              <a:t>Events found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0928" y="385876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3B30"/>
                </a:solidFill>
                <a:latin typeface="Segoe UI"/>
              </a:rPr>
              <a:t>0 /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8208" y="38587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30D158"/>
                </a:solidFill>
                <a:latin typeface="Segoe UI"/>
              </a:rPr>
              <a:t>27 / 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4617720"/>
            <a:ext cx="11365992" cy="1170432"/>
          </a:xfrm>
          <a:prstGeom prst="roundRect">
            <a:avLst>
              <a:gd name="adj" fmla="val 55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45736"/>
            <a:ext cx="10881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71E3"/>
                </a:solidFill>
                <a:latin typeface="Segoe UI"/>
              </a:rPr>
              <a:t>JUSTIFICATION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D1D1F"/>
                </a:solidFill>
                <a:latin typeface="Segoe UI"/>
              </a:rPr>
              <a:t>Validated against real historical and current disaster events, the retrained model now correctly detects flood conditions in actual Sri Lankan scenarios (90% of events) while keeping non-flood predictions low — demonstrating accuracy, reliability and practical applicability as disaster decision support.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1">
                <a:solidFill>
                  <a:srgbClr val="6E6E73"/>
                </a:solidFill>
                <a:latin typeface="Segoe UI"/>
              </a:rPr>
              <a:t>Honest limitation: without a live gauge reading, pure forecast skill remains weak (AUC ≈ 0.35) — the model is designed as decision support on top of live/entered DMC gauge readings.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6E6E73"/>
                </a:solidFill>
                <a:latin typeface="Segoe UI"/>
              </a:rPr>
              <a:t>Reproduce: build_real_flood_dataset.py → train_real_flood.py → validate_ditwah_case.py / validate_real_events.py  ·  github.com/Suhansa-code/SmartCamp-IoT-AI-Framework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